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103120"/>
            <a:ext cx="5303520" cy="5303520"/>
          </a:xfrm>
          <a:prstGeom prst="ellipse">
            <a:avLst/>
          </a:prstGeom>
          <a:solidFill>
            <a:srgbClr val="28315F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3657600" cy="3657600"/>
          </a:xfrm>
          <a:prstGeom prst="ellipse">
            <a:avLst/>
          </a:prstGeom>
          <a:solidFill>
            <a:srgbClr val="1F26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บริษัท ครึ่งเก้า · STRATEGY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 Operations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As-is → To-be · Product Roadmap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01168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840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สิ่งที่มีในมือวันนี้ และทิศทางที่จะเติบโตเป็นเฟส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ภาพรวมระบบสำหรับนำเสนอภายในองค์กร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วิสัยทัศน์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ระบบเดียวครอบวงจรชีวิตของเพลง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จากเซ็นสัญญา–ถือสิทธิ์ ไปจนถึงปล่อยเพลง เก็บเงิน และแบ่งส่วนแบ่ง — ทุกขั้นอยู่ในระบบเดียว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0432" y="3063240"/>
            <a:ext cx="502920" cy="502920"/>
          </a:xfrm>
          <a:prstGeom prst="ellipse">
            <a:avLst/>
          </a:prstGeom>
          <a:solidFill>
            <a:srgbClr val="6D5A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70432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รากฐาน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สัญญา·สิทธิ์·ศิลปิน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249424" y="2834640"/>
            <a:ext cx="237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50592" y="283464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72384" y="3063240"/>
            <a:ext cx="502920" cy="502920"/>
          </a:xfrm>
          <a:prstGeom prst="ellipse">
            <a:avLst/>
          </a:prstGeom>
          <a:solidFill>
            <a:srgbClr val="128E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72384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42032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Catalog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523744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ทะเบียน·ISRC·Library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151376" y="2834640"/>
            <a:ext cx="237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352544" y="283464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74336" y="3063240"/>
            <a:ext cx="502920" cy="50292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74336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443984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425696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โปรเจกต์·งาน·ทีม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053328" y="2834640"/>
            <a:ext cx="237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54496" y="283464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76288" y="3063240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7628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345936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Distribution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327648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Metadata·ปล่อยเพลง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2834640"/>
            <a:ext cx="237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156448" y="283464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778240" y="3063240"/>
            <a:ext cx="502920" cy="50292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782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Finance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งบ·จ่าย·ต้นทุน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857232" y="2834640"/>
            <a:ext cx="237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058400" y="283464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680192" y="3063240"/>
            <a:ext cx="502920" cy="502920"/>
          </a:xfrm>
          <a:prstGeom prst="ellipse">
            <a:avLst/>
          </a:prstGeom>
          <a:solidFill>
            <a:srgbClr val="28315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680192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Royalty &amp; Report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ส่วนแบ่ง·วิเคราะห์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โครงนำเสนอ: ① สิ่งที่มีแล้ว (As-is)  →  ② ส่วนขยายที่จำเป็น (To-be) เรียงตามวงจร  →  ③ Roadmap เป็นเฟส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ปัจจุบัน · ตอนนี้มีอะไร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โมดูลที่ใช้งานได้จริงแล้ววันนี้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536192"/>
            <a:ext cx="1755648" cy="329184"/>
          </a:xfrm>
          <a:prstGeom prst="roundRect">
            <a:avLst>
              <a:gd name="adj" fmla="val 22222"/>
            </a:avLst>
          </a:prstGeom>
          <a:solidFill>
            <a:srgbClr val="6D5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536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รากฐาน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04288" y="1536192"/>
            <a:ext cx="1755648" cy="329184"/>
          </a:xfrm>
          <a:prstGeom prst="roundRect">
            <a:avLst>
              <a:gd name="adj" fmla="val 22222"/>
            </a:avLst>
          </a:prstGeom>
          <a:solidFill>
            <a:srgbClr val="128E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04288" y="1536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Catalog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97096" y="1536192"/>
            <a:ext cx="1755648" cy="329184"/>
          </a:xfrm>
          <a:prstGeom prst="roundRect">
            <a:avLst>
              <a:gd name="adj" fmla="val 22222"/>
            </a:avLst>
          </a:prstGeom>
          <a:solidFill>
            <a:srgbClr val="2E6B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97096" y="1536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9904" y="1536192"/>
            <a:ext cx="1755648" cy="329184"/>
          </a:xfrm>
          <a:prstGeom prst="roundRect">
            <a:avLst>
              <a:gd name="adj" fmla="val 22222"/>
            </a:avLst>
          </a:prstGeom>
          <a:solidFill>
            <a:srgbClr val="F2B70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89904" y="1536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82712" y="1536192"/>
            <a:ext cx="1755648" cy="329184"/>
          </a:xfrm>
          <a:prstGeom prst="roundRect">
            <a:avLst>
              <a:gd name="adj" fmla="val 22222"/>
            </a:avLst>
          </a:prstGeom>
          <a:solidFill>
            <a:srgbClr val="1FA9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82712" y="1536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75520" y="1536192"/>
            <a:ext cx="1755648" cy="329184"/>
          </a:xfrm>
          <a:prstGeom prst="roundRect">
            <a:avLst>
              <a:gd name="adj" fmla="val 22222"/>
            </a:avLst>
          </a:prstGeom>
          <a:solidFill>
            <a:srgbClr val="2831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875520" y="1536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Royalty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011680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" y="2075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" y="23408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ทีมงาน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2724912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484632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Artist / People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" y="30540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3438144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84632" y="35021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Contracts &amp; Rights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" y="37673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304288" y="2011680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77440" y="2075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Digital Library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23408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คลังไฟล์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04288" y="2724912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77440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Library Map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30540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แคตตาล็อก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304288" y="3438144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2377440" y="35021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Catalog + ISRC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377440" y="37673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97096" y="2011680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70248" y="2075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270248" y="23408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Triage งานด่วน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97096" y="2724912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70248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 Workflow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270248" y="30540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timeline · tasks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97096" y="3438144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70248" y="35021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Gantt · Calendar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270248" y="37673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Workload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89904" y="2011680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6163056" y="2075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Metadata Form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163056" y="23408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89904" y="2724912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6163056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163056" y="30540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89904" y="3438144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6163056" y="35021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DSP Delivery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163056" y="37673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982712" y="2011680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055864" y="2075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Budget / Actual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055864" y="23408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CBS Maker-Checker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982712" y="2724912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56" name="Text 54"/>
          <p:cNvSpPr txBox="1"/>
          <p:nvPr/>
        </p:nvSpPr>
        <p:spPr>
          <a:xfrm>
            <a:off x="8055864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ใบเปิด / ใบปิด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055864" y="30540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982712" y="3438144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8055864" y="35021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Payments / WHT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055864" y="37673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875520" y="2011680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62" name="Text 60"/>
          <p:cNvSpPr txBox="1"/>
          <p:nvPr/>
        </p:nvSpPr>
        <p:spPr>
          <a:xfrm>
            <a:off x="9948672" y="2075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Royalty Pools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9948672" y="23408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875520" y="2724912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65" name="Text 63"/>
          <p:cNvSpPr txBox="1"/>
          <p:nvPr/>
        </p:nvSpPr>
        <p:spPr>
          <a:xfrm>
            <a:off x="9948672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Royalty Engine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9948672" y="30540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875520" y="3438144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68" name="Text 66"/>
          <p:cNvSpPr txBox="1"/>
          <p:nvPr/>
        </p:nvSpPr>
        <p:spPr>
          <a:xfrm>
            <a:off x="9948672" y="35021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 / Analytics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9948672" y="37673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11480" y="5029200"/>
            <a:ext cx="10963656" cy="9144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94360" y="5212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Platform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594360" y="5486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รองรับทุกโดเมน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514600" y="5175504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2587752" y="523951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SSO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2587752" y="5504688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เฉพาะองค์กร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709160" y="5175504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77" name="Text 75"/>
          <p:cNvSpPr txBox="1"/>
          <p:nvPr/>
        </p:nvSpPr>
        <p:spPr>
          <a:xfrm>
            <a:off x="4782312" y="523951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RBAC</a:t>
            </a:r>
            <a:endParaRPr lang="en-US" sz="1050" dirty="0"/>
          </a:p>
        </p:txBody>
      </p:sp>
      <p:sp>
        <p:nvSpPr>
          <p:cNvPr id="78" name="Text 76"/>
          <p:cNvSpPr txBox="1"/>
          <p:nvPr/>
        </p:nvSpPr>
        <p:spPr>
          <a:xfrm>
            <a:off x="4782312" y="5504688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903720" y="5175504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80" name="Text 78"/>
          <p:cNvSpPr txBox="1"/>
          <p:nvPr/>
        </p:nvSpPr>
        <p:spPr>
          <a:xfrm>
            <a:off x="6976872" y="523951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Portal</a:t>
            </a:r>
            <a:endParaRPr lang="en-US" sz="1050" dirty="0"/>
          </a:p>
        </p:txBody>
      </p:sp>
      <p:sp>
        <p:nvSpPr>
          <p:cNvPr id="81" name="Text 79"/>
          <p:cNvSpPr txBox="1"/>
          <p:nvPr/>
        </p:nvSpPr>
        <p:spPr>
          <a:xfrm>
            <a:off x="6976872" y="5504688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9098280" y="5175504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5240">
            <a:solidFill>
              <a:srgbClr val="5B6176"/>
            </a:solidFill>
            <a:prstDash val="dash"/>
          </a:ln>
        </p:spPr>
      </p:sp>
      <p:sp>
        <p:nvSpPr>
          <p:cNvPr id="83" name="Text 81"/>
          <p:cNvSpPr txBox="1"/>
          <p:nvPr/>
        </p:nvSpPr>
        <p:spPr>
          <a:xfrm>
            <a:off x="9171432" y="523951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</a:t>
            </a: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9171432" y="5504688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</a:t>
            </a:r>
            <a:endParaRPr 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41148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เขียว = มีแล้ว   ·   เส้นประ = ยังไม่มี (จะเพิ่มในอนาคต)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อนาคต · จะเพิ่มอะไร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เติมโมดูลที่เหลือให้ครบทั้งวงจร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536192"/>
            <a:ext cx="1755648" cy="329184"/>
          </a:xfrm>
          <a:prstGeom prst="roundRect">
            <a:avLst>
              <a:gd name="adj" fmla="val 22222"/>
            </a:avLst>
          </a:prstGeom>
          <a:solidFill>
            <a:srgbClr val="6D5A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536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รากฐาน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04288" y="1536192"/>
            <a:ext cx="1755648" cy="329184"/>
          </a:xfrm>
          <a:prstGeom prst="roundRect">
            <a:avLst>
              <a:gd name="adj" fmla="val 22222"/>
            </a:avLst>
          </a:prstGeom>
          <a:solidFill>
            <a:srgbClr val="128E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04288" y="1536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Catalog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97096" y="1536192"/>
            <a:ext cx="1755648" cy="329184"/>
          </a:xfrm>
          <a:prstGeom prst="roundRect">
            <a:avLst>
              <a:gd name="adj" fmla="val 22222"/>
            </a:avLst>
          </a:prstGeom>
          <a:solidFill>
            <a:srgbClr val="2E6B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97096" y="1536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9904" y="1536192"/>
            <a:ext cx="1755648" cy="329184"/>
          </a:xfrm>
          <a:prstGeom prst="roundRect">
            <a:avLst>
              <a:gd name="adj" fmla="val 22222"/>
            </a:avLst>
          </a:prstGeom>
          <a:solidFill>
            <a:srgbClr val="F2B70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89904" y="1536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82712" y="1536192"/>
            <a:ext cx="1755648" cy="329184"/>
          </a:xfrm>
          <a:prstGeom prst="roundRect">
            <a:avLst>
              <a:gd name="adj" fmla="val 22222"/>
            </a:avLst>
          </a:prstGeom>
          <a:solidFill>
            <a:srgbClr val="1FA9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82712" y="1536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75520" y="1536192"/>
            <a:ext cx="1755648" cy="329184"/>
          </a:xfrm>
          <a:prstGeom prst="roundRect">
            <a:avLst>
              <a:gd name="adj" fmla="val 22222"/>
            </a:avLst>
          </a:prstGeom>
          <a:solidFill>
            <a:srgbClr val="2831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875520" y="1536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Royalty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011680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" y="2075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" y="23408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ทีมงาน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2724912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Artist / People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" y="30540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ข้อมูลศิลปิน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3438144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" y="35021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Contracts &amp; Rights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" y="37673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สัญญา·สิทธิ์·ส่วนแบ่ง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304288" y="2011680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77440" y="2075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Digital Library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23408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คลังไฟล์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04288" y="2724912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77440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Library Map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30540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แคตตาล็อก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304288" y="3438144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77440" y="35021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Catalog + ISRC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377440" y="37673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ทะเบียน·รหัส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97096" y="2011680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70248" y="2075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270248" y="23408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Triage งานด่วน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97096" y="2724912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70248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 Workflow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270248" y="30540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timeline · tasks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97096" y="3438144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70248" y="35021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Gantt · Calendar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270248" y="37673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Workload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89904" y="2011680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63056" y="2075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Metadata Form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163056" y="23408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กรอกเข้าระบบ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89904" y="2724912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63056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163056" y="30540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checklist ไฟล์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89904" y="3438144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163056" y="35021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DSP Delivery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163056" y="37673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ส่งจัดจำหน่าย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982712" y="2011680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055864" y="2075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Budget / Actual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055864" y="23408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CBS Maker-Checker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982712" y="2724912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055864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ใบเปิด / ใบปิด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055864" y="30540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ปิดงบ · ล็อก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982712" y="3438144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055864" y="35021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Payments / WHT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055864" y="37673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 · หักภาษี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875520" y="2011680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948672" y="2075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Royalty Pools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9948672" y="23408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ตั้งส่วนแบ่ง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875520" y="2724912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948672" y="2788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Royalty Engine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9948672" y="30540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 · statement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875520" y="3438144"/>
            <a:ext cx="1755648" cy="585216"/>
          </a:xfrm>
          <a:prstGeom prst="roundRect">
            <a:avLst>
              <a:gd name="adj" fmla="val 10938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948672" y="35021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 / Analytics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9948672" y="37673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วิเคราะห์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11480" y="5029200"/>
            <a:ext cx="10963656" cy="9144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94360" y="5212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Platform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594360" y="5486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รองรับทุกโดเมน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514600" y="5175504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1FA97A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2587752" y="523951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SSO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2587752" y="5504688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FF5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เฉพาะองค์กร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709160" y="5175504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782312" y="523951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RBAC</a:t>
            </a:r>
            <a:endParaRPr lang="en-US" sz="1050" dirty="0"/>
          </a:p>
        </p:txBody>
      </p:sp>
      <p:sp>
        <p:nvSpPr>
          <p:cNvPr id="78" name="Text 76"/>
          <p:cNvSpPr txBox="1"/>
          <p:nvPr/>
        </p:nvSpPr>
        <p:spPr>
          <a:xfrm>
            <a:off x="4782312" y="5504688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สิทธิ์รายโมดูล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903720" y="5175504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976872" y="523951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Portal</a:t>
            </a:r>
            <a:endParaRPr lang="en-US" sz="1050" dirty="0"/>
          </a:p>
        </p:txBody>
      </p:sp>
      <p:sp>
        <p:nvSpPr>
          <p:cNvPr id="81" name="Text 79"/>
          <p:cNvSpPr txBox="1"/>
          <p:nvPr/>
        </p:nvSpPr>
        <p:spPr>
          <a:xfrm>
            <a:off x="6976872" y="5504688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เชื่อมองค์กร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9098280" y="5175504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2B705"/>
          </a:solidFill>
          <a:ln w="15240">
            <a:solidFill>
              <a:srgbClr val="C9940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171432" y="523951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</a:t>
            </a: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9171432" y="5504688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4A1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ประวัติ·สำรอง</a:t>
            </a:r>
            <a:endParaRPr 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41148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เขียว = มีแล้ว   ·   เหลือง = เพิ่มในอนาคต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TO-BE · วงจรที่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6D5AE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13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6949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รากฐาน: สัญญา · สิทธิ์ · ศิลปิน · ส่วนแบ่ง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88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ตั้งต้นให้ถูกตั้งแต่ใครถือสิทธิ์และแบ่งกันยังไง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305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F2B70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30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ข้อมูลศิลปิน/ผู้ร่วมงาน (master)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87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Person/Artist เก็บบัญชี·ภาษี reuse ข้ามเพลง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37376" y="21305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F2B70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37376" y="2130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43216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การถือสิทธิ์ (Master / Musical)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587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ตั้งสัดส่วนค่าย↔ศิลปิน (70/30·80/20 · 50/50)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5021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F2B70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5021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โมเดลส่วนแบ่ง multi-pool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หลายหัวข้อ · แต่ละ pool รวม 100%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3246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5021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2E6BE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37376" y="35021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 + ลายเซ็นดิจิทัล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ช่วงเวลา·เงื่อนไขสิทธิ์ + e-signature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TO-BE · วงจรที่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28E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13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6949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Catalog &amp; Library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88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ทะเบียนผลงานกลาง เชื่อม ISRC/UPC และคลังไฟล์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305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1FA9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30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Digital Library (DAM)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87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ติดตามไฟล์ Cloud + Local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37376" y="21305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1FA9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37376" y="2130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43216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Library Map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587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ค้นหาแคตตาล็อกทั้งค่าย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5021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2E6BE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5021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ทะเบียนเพลง/อัลบั้ม/เวอร์ชัน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Catalog กลางของทุกผลงาน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3246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5021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2E6BE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37376" y="35021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ISRC / UPC management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ออก·ผูกรหัสจัดจำหน่าย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TO-BE · วงจรที่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6B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13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6949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&amp; Dashboard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88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เปิดโปรเจกต์ต่อเพลง และคุมงานทั้งทีม (As-is แข็งสุด)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305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1FA9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30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เปิดโปรเจกต์ต่อเพลง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87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Wizard + copy เทมเพลตงาน/งบอัตโนมัติ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37376" y="21305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1FA9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37376" y="2130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43216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Workback Timeline engine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587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คำนวณเดดไลน์ย้อนจากวันปล่อย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5021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1FA97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5021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Tasks · dependency · thread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มอบหมาย·กั้นงาน·คุยในงาน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3246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5021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1FA97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37376" y="35021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· Gantt · Workload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Triage งานด่วนทั้งองค์กร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TO-BE · วงจรที่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B70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13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6949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Distribution &amp; Metadata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88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เลิกส่ง Excel — กรอกฟอร์มเข้าระบบทั้งหมด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305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2E6B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30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ฟอร์ม Metadata ในระบบ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87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แทนชีต To Distributor เดิม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37376" y="21305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2E6B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37376" y="2130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43216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Deliverable checklist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587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เช็กไฟล์ส่งมอบครบต่อเพลง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5021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2E6BE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5021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เครดิต 2 ภาษา · TikTok · URLs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ครบตามที่ distributor ต้องการ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3246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5021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6D5A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37376" y="35021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ส่งต่อ DSP / Distributor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 metadata+asset อัตโนมัติ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TO-BE · วงจรที่ 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FA9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13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6949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Finance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88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คุมงบ ต้นทุน และการจ่ายเงินทั้งวงจร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305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1FA9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30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CBS Budget / ใช้จริง / เกิดจริง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87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Maker-Checker + แนบหลักฐาน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37376" y="21305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F2B70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37376" y="2130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43216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ใบเปิด / ใบปิดงบ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587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เปิด→ปิด + ล็อกแก้หลังปิด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5021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F2B70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5021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จ่ายเงิน + หัก ณ ที่จ่าย (WHT)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payment run + หนังสือรับรอง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3246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5021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6D5A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37376" y="35021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P&amp;L ต่อเพลง / ศิลปิน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ต้นทุน vs รายได้ vs recoup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TO-BE · วงจรที่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831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13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6949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Royalty &amp; Reporting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88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ปิดวงจร: บันทึกรายได้ → คิดส่วนแบ่ง → ทำจ่าย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305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F2B70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30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บันทึกรายได้เข้าระบบ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87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 manual → นำเข้าอัตโนมัติภายหลัง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37376" y="21305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F2B70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37376" y="2130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43216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Royalty engine + recoup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587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คิดส่วนแบ่งต่อรอบ หักทุนก่อน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5021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F2B70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5021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Statement ส่วนแบ่งต่อคน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ออกใบแจ้ง/ดาวน์โหลด (PDF)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3246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502152"/>
            <a:ext cx="868680" cy="384048"/>
          </a:xfrm>
          <a:prstGeom prst="roundRect">
            <a:avLst>
              <a:gd name="adj" fmla="val 47619"/>
            </a:avLst>
          </a:prstGeom>
          <a:solidFill>
            <a:srgbClr val="6D5A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37376" y="35021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&amp; Analytics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รายได้·ต้นทุน·กำไร ต่อเพลง/ศิลปิน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ชั้นรองรับทุกโดเมน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Platform · ความปลอดภัย · การเข้าถึง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685800" cy="68580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SSO เฉพาะองค์กร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688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ล็อกอินด้วย Google ของบริษัท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292608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1FA9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9260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63056" y="17373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37376" y="2240280"/>
            <a:ext cx="685800" cy="68580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306056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RBAC คุมสิทธิ์รายโมดูล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7306056" y="24688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เช่น Finance เห็นเฉพาะทีมการเงิน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06056" y="292608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06056" y="29260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3886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เชื่อมเข้า Portal องค์กร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343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ส่งลิงก์ต่อโมดูล · SSO ต่อเนื่อง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91640" y="480060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691640" y="48006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3056" y="36118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37376" y="4114800"/>
            <a:ext cx="685800" cy="685800"/>
          </a:xfrm>
          <a:prstGeom prst="ellipse">
            <a:avLst/>
          </a:prstGeom>
          <a:solidFill>
            <a:srgbClr val="6D5A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37376" y="4114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306056" y="3886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log + Backup</a:t>
            </a:r>
            <a:endParaRPr lang="en-US" sz="1650" dirty="0"/>
          </a:p>
        </p:txBody>
      </p:sp>
      <p:sp>
        <p:nvSpPr>
          <p:cNvPr id="29" name="Text 27"/>
          <p:cNvSpPr txBox="1"/>
          <p:nvPr/>
        </p:nvSpPr>
        <p:spPr>
          <a:xfrm>
            <a:off x="7306056" y="4343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ใครแก้อะไรเมื่อไหร่ · สำรองข้อมูล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06056" y="480060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6D5A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06056" y="48006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P3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แผนการเติบโต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Roadmap — 3 เฟส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1FA97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3520440" cy="32004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1 · Now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5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ครบลูป: รับข้อมูล → ทำจ่าย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ฐานเดิม: Dashboard·Workflow·DAM·CBS·SSO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Artist/People master + การถือสิทธิ์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โมเดลส่วนแบ่ง multi-pool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บันทึกรายได้ + Royalty engine + recoup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Statement ส่วนแบ่ง + ใบเปิด/ปิดงบ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จ่ายเงิน + WHT + RBAC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88536" y="173736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88536" y="17373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F2B705"/>
          </a:solidFill>
          <a:ln/>
        </p:spPr>
      </p:sp>
      <p:sp>
        <p:nvSpPr>
          <p:cNvPr id="12" name="Shape 10"/>
          <p:cNvSpPr/>
          <p:nvPr/>
        </p:nvSpPr>
        <p:spPr>
          <a:xfrm>
            <a:off x="4288536" y="2286000"/>
            <a:ext cx="3520440" cy="32004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7136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2 · Next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17136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5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รายละเอียด task · deliverables · distribution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278892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Deliverable checklist ต่อเพลง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Metadata form เต็ม (เลิก Excel)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เครดิต 2 ภาษา · TikTok · URLs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ISRC/UPC management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 + e-signature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Portal integration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28432" y="173736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28432" y="17373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6D5AE0"/>
          </a:solidFill>
          <a:ln/>
        </p:spPr>
      </p:sp>
      <p:sp>
        <p:nvSpPr>
          <p:cNvPr id="18" name="Shape 16"/>
          <p:cNvSpPr/>
          <p:nvPr/>
        </p:nvSpPr>
        <p:spPr>
          <a:xfrm>
            <a:off x="8028432" y="2286000"/>
            <a:ext cx="3520440" cy="320040"/>
          </a:xfrm>
          <a:prstGeom prst="rect">
            <a:avLst/>
          </a:prstGeom>
          <a:solidFill>
            <a:srgbClr val="6D5A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57032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3 · Later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57032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5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ขยายผล + วิเคราะห์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78892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ส่งต่อ DSP + นำเข้ารายได้อัตโนมัติ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 / Analytics (กำไรต่อเพลง)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Artist Portal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 / Integrations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Automation / AI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log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3931920"/>
            <a:ext cx="4937760" cy="4937760"/>
          </a:xfrm>
          <a:prstGeom prst="ellipse">
            <a:avLst/>
          </a:prstGeom>
          <a:solidFill>
            <a:srgbClr val="2831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จากของจริงวันนี้ สู่ระบบครบวงจร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ฐานพร้อมแล้ว · ส่วนขยายชัดเจน · เติบโตเป็นเฟสได้ทันที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4023360"/>
            <a:ext cx="201168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บริษัท ครึ่งเก้า · ทีมพัฒนาภายใน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บริษัท ครึ่งเก้า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บริษัท ครึ่งเก้า</dc:creator>
  <cp:lastModifiedBy>บริษัท ครึ่งเก้า</cp:lastModifiedBy>
  <cp:revision>1</cp:revision>
  <dcterms:created xsi:type="dcterms:W3CDTF">2026-10-07T06:23:39Z</dcterms:created>
  <dcterms:modified xsi:type="dcterms:W3CDTF">2026-10-07T06:23:39Z</dcterms:modified>
</cp:coreProperties>
</file>