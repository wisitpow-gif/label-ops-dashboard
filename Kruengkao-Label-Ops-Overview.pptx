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D2B"/>
                </a:solidFill>
                <a:latin typeface="Tahoma"/>
              </a:defRPr>
            </a:pPr>
            <a:r>
              <a:rPr sz="1300" b="0" i="0" u="none" strike="noStrike">
                <a:solidFill>
                  <a:srgbClr val="1A1D2B"/>
                </a:solidFill>
                <a:latin typeface="Tahoma"/>
              </a:rPr>
              <a:t>งบ vs ใช้จริง vs เกิดจริง (พันบาท)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งบ</c:v>
                </c:pt>
              </c:strCache>
            </c:strRef>
          </c:tx>
          <c:spPr>
            <a:solidFill>
              <a:srgbClr val="2831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AUDIO</c:v>
                  </c:pt>
                  <c:pt idx="1">
                    <c:v>MV</c:v>
                  </c:pt>
                  <c:pt idx="2">
                    <c:v>Key Visual</c:v>
                  </c:pt>
                  <c:pt idx="3">
                    <c:v>Promo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260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ใช้จริง</c:v>
                </c:pt>
              </c:strCache>
            </c:strRef>
          </c:tx>
          <c:spPr>
            <a:solidFill>
              <a:srgbClr val="F2B7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AUDIO</c:v>
                  </c:pt>
                  <c:pt idx="1">
                    <c:v>MV</c:v>
                  </c:pt>
                  <c:pt idx="2">
                    <c:v>Key Visual</c:v>
                  </c:pt>
                  <c:pt idx="3">
                    <c:v>Promo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110</c:v>
                </c:pt>
                <c:pt idx="1">
                  <c:v>300</c:v>
                </c:pt>
                <c:pt idx="2">
                  <c:v>75</c:v>
                </c:pt>
                <c:pt idx="3">
                  <c:v>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เกิดจริง</c:v>
                </c:pt>
              </c:strCache>
            </c:strRef>
          </c:tx>
          <c:spPr>
            <a:solidFill>
              <a:srgbClr val="1FA9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AUDIO</c:v>
                  </c:pt>
                  <c:pt idx="1">
                    <c:v>MV</c:v>
                  </c:pt>
                  <c:pt idx="2">
                    <c:v>Key Visual</c:v>
                  </c:pt>
                  <c:pt idx="3">
                    <c:v>Promo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108</c:v>
                </c:pt>
                <c:pt idx="1">
                  <c:v>285</c:v>
                </c:pt>
                <c:pt idx="2">
                  <c:v>78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6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6"/>
                </a:solidFill>
                <a:latin typeface="Tahom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176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เปิดด้วยภาพรวม: นี่คือระบบภายในที่เราพัฒนาเพื่อคุมงานปล่อยเพลงทั้งกระบวนการในที่เดียว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ปิดท้าย: ระบบพร้อมใช้งานจริง และพร้อมต่อยอดเข้าสู่ Portal องค์กร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120640" cy="5120640"/>
          </a:xfrm>
          <a:prstGeom prst="ellipse">
            <a:avLst/>
          </a:prstGeom>
          <a:solidFill>
            <a:srgbClr val="2831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F26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บริษัท ครึ่งเก้า · INTERNAL PLATFORM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Operations System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ระบบบริหารงานปล่อยเพลงแบบครบวงจร — ตั้งแต่เปิดโปรเจกต์ ไทม์ไลน์ งานทีม คลังไฟล์ ไปจนถึงการเงิน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ภาพรวมระบบสำหรับนำเสนอภายในองค์กร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ทำไมต้องมีระบบนี้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ปัญหาเดิมของการทำงาน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3566160"/>
          </a:xfrm>
          <a:prstGeom prst="roundRect">
            <a:avLst>
              <a:gd name="adj" fmla="val 419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658368" cy="658368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ติดตามด้วยมือ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611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Excel / แชต กระจายหลายที่ ตกหล่นและไม่อัปเดตเรียลไทม์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46704" y="1737360"/>
            <a:ext cx="2615184" cy="3566160"/>
          </a:xfrm>
          <a:prstGeom prst="roundRect">
            <a:avLst>
              <a:gd name="adj" fmla="val 419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02736" y="2011680"/>
            <a:ext cx="658368" cy="65836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0273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ข้อมูลกระจัดกระจาย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3611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 งาน งบประมาณ อยู่คนละระบบ หาข้อมูลข้ามแผนกยาก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44768" y="1737360"/>
            <a:ext cx="2615184" cy="3566160"/>
          </a:xfrm>
          <a:prstGeom prst="roundRect">
            <a:avLst>
              <a:gd name="adj" fmla="val 419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011680"/>
            <a:ext cx="658368" cy="658368"/>
          </a:xfrm>
          <a:prstGeom prst="ellipse">
            <a:avLst/>
          </a:prstGeom>
          <a:solidFill>
            <a:srgbClr val="6D5A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มองภาพรวมไม่ออก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611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ผู้จัดการไม่เห็นว่างานไหนเลยกำหนด ใครถืองานอะไรอยู่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42832" y="1737360"/>
            <a:ext cx="2615184" cy="3566160"/>
          </a:xfrm>
          <a:prstGeom prst="roundRect">
            <a:avLst>
              <a:gd name="adj" fmla="val 419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98864" y="2011680"/>
            <a:ext cx="658368" cy="658368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9886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 vs จ่ายจริงไม่ชัด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198864" y="36118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ควบคุมต้นทุนต่อเพลงยาก ไม่มีการตรวจสอบหลักฐานการจ่าย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ผลลัพธ์: งานล่าช้า ต้นทุนบานปลาย และตัดสินใจบนข้อมูลที่ไม่ครบ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ระบบคืออะไร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ศูนย์กลางงานปล่อยเพลงในที่เดียว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รวมทุกขั้นตอนของการปล่อยเพลง — โปรเจกต์ · งาน · ไฟล์ · การเงิน — ไว้ในระบบเดียวที่ทุกคนในองค์กรเข้าถึงได้ตามสิทธิ์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161A3B"/>
          </a:solidFill>
          <a:ln/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74320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โมดูลงานหลัก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46704" y="251460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161A3B"/>
          </a:solidFill>
          <a:ln/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9584" y="274320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Release → Finance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36576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ครบทั้งกระบวนการ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44768" y="251460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161A3B"/>
          </a:solidFill>
          <a:ln/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27648" y="274320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36576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อัปเดตสดทุกคน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42832" y="251460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161A3B"/>
          </a:solidFill>
          <a:ln/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25712" y="274320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SSO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125712" y="365760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เฉพาะคนในองค์กร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627632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8463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เปิดโปรเจกต์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139696" y="48463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395728" y="4846320"/>
            <a:ext cx="1627632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95728" y="48463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ไทม์ไลน์ Workback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986784" y="48463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242816" y="4846320"/>
            <a:ext cx="1627632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42816" y="48463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 &amp; ทีม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833872" y="48463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089904" y="4846320"/>
            <a:ext cx="1627632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89904" y="48463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คลังไฟล์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48463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936992" y="4846320"/>
            <a:ext cx="1627632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36992" y="48463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การเงิน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528048" y="48463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784080" y="4846320"/>
            <a:ext cx="1627632" cy="685800"/>
          </a:xfrm>
          <a:prstGeom prst="roundRect">
            <a:avLst>
              <a:gd name="adj" fmla="val 10667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84080" y="484632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ปล่อยเพลง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รีลีส 1 เพลง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โมดูลหลัก · ส่วนที่ 1/2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โครงสร้างระบบ (1–4)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61A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9933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Command Center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หน้าสรุปงานด่วนรายวัน · KPI · งานของฉัน (triage)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63056" y="16916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7376" y="19842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6B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7376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88936" y="19933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Release Management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88936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ตารางรีลีส · Pipeline · Gantt · Calendar · Workload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5876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6D5A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587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8679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Collaboration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343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มอบหมายงาน · dependency · thread พูดคุยในแต่ละงาน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63056" y="35661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7376" y="385876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28E7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37376" y="38587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38679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Digital Assets (DAM)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4343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Digital Library ต่อโปรเจกต์ + Library Map แคตตาล็อก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โมดูลหลัก · ส่วนที่ 2/2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โครงสร้างระบบ (5–8)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1FA9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9933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งบ/ใช้จริง/เกิดจริง (Maker-Checker) · ส่วนแบ่ง · Export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63056" y="16916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7376" y="198424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2B7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7376" y="19842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88936" y="19933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Internal / Ad-Hoc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88936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งานภายในที่ไม่ใช่รีลีส พร้อม dependency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85876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C056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587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8679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Administration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343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ทีมงาน · เทมเพลตงาน · สังกัด/ศิลปิน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63056" y="35661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7376" y="3858768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831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37376" y="38587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386791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 &amp; Security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88936" y="4343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SSO เฉพาะองค์กร · RLS · RBAC (แผน)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เส้นทางการทำงาน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รีลีส 1 เพลง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700784" cy="2834640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4712" y="24231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2471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1089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Initiate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370332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เปิดโปรเจกต์ (Single/Album/Concert) เลือกสังกัด–ศิลปิน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194560"/>
            <a:ext cx="256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14016" y="2194560"/>
            <a:ext cx="1700784" cy="2834640"/>
          </a:xfrm>
          <a:prstGeom prst="roundRect">
            <a:avLst>
              <a:gd name="adj" fmla="val 5376"/>
            </a:avLst>
          </a:prstGeom>
          <a:solidFill>
            <a:srgbClr val="161A3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90088" y="24231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9008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23744" y="31089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Workback Timeline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370332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ระบบคำนวณเดดไลน์ย้อนจากวันปล่อยอัตโนมัติ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59936" y="2194560"/>
            <a:ext cx="256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79392" y="2194560"/>
            <a:ext cx="1700784" cy="2834640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55464" y="24231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546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1089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Production &amp; Tasks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07408" y="370332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สร้างงานตามเทมเพลต มอบหมายทีม ติดตามสถานะ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25312" y="2194560"/>
            <a:ext cx="256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144768" y="2194560"/>
            <a:ext cx="1700784" cy="2834640"/>
          </a:xfrm>
          <a:prstGeom prst="roundRect">
            <a:avLst>
              <a:gd name="adj" fmla="val 5376"/>
            </a:avLst>
          </a:prstGeom>
          <a:solidFill>
            <a:srgbClr val="161A3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4231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254496" y="31089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Digital Assets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370332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ส่งไฟล์ → ตรวจ → เข้า Official Drive → สำรอง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2194560"/>
            <a:ext cx="256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010144" y="2194560"/>
            <a:ext cx="1700784" cy="2834640"/>
          </a:xfrm>
          <a:prstGeom prst="roundRect">
            <a:avLst>
              <a:gd name="adj" fmla="val 537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86216" y="24231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8621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8119872" y="31089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370332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คุมงบ CBS · ใช้จริง/เกิดจริง · ตรวจหลักฐาน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56064" y="2194560"/>
            <a:ext cx="25603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875520" y="2194560"/>
            <a:ext cx="1700784" cy="2834640"/>
          </a:xfrm>
          <a:prstGeom prst="roundRect">
            <a:avLst>
              <a:gd name="adj" fmla="val 5376"/>
            </a:avLst>
          </a:prstGeom>
          <a:solidFill>
            <a:srgbClr val="161A3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51592" y="2423160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45159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985248" y="31089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Release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003536" y="370332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ปล่อยเพลง พร้อมประวัติครบในระบบ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หัวใจคือ Workback Engine — เปลี่ยนวันปล่อยเมื่อไหร่ เดดไลน์ทุกงานขยับให้อัตโนมัติ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จุดที่แตกต่าง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สิ่งที่ทำให้ระบบนี้เหนือกว่าการทำมือ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Workback Engine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48716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คำนวณเดดไลน์ย้อนจากวันปล่อย — ทั้งโปรเจกต์ขยับตามอัตโนมัติ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63056" y="17373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7376" y="2057400"/>
            <a:ext cx="731520" cy="73152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7376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51776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Maker–Checker Finance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51776" y="248716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งบ / ใช้จริง (Producer) / เกิดจริง (Account) ตรวจหลักฐานได้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731520" cy="731520"/>
          </a:xfrm>
          <a:prstGeom prst="ellipse">
            <a:avLst/>
          </a:prstGeom>
          <a:solidFill>
            <a:srgbClr val="128E7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950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Digital Asset Management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4074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ติดตามไฟล์ทั้ง Cloud และ Local พร้อมแคตตาล็อกทั้งค่าย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63056" y="3657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7376" y="3977640"/>
            <a:ext cx="731520" cy="731520"/>
          </a:xfrm>
          <a:prstGeom prst="ellipse">
            <a:avLst/>
          </a:prstGeom>
          <a:solidFill>
            <a:srgbClr val="6D5A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37376" y="3977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3950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Triage Dashboard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51776" y="44074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เห็นงานเลยกำหนด/ด่วน ทั้งองค์กรในหน้าเดียว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การเงิน · Maker vs Checker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คุมงบประมาณ 3 ชั้น ต่อทุกเพลง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161A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งบประมาณ (Budget)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ตั้งไว้ตอนเริ่มโปรเจกต์ ตามโครงสร้างต้นทุน CBS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64408"/>
            <a:ext cx="548640" cy="5486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ใช้จริง (Producer)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โปรดิวเซอร์บันทึกยอดที่จ่ายจริงหลังทำงาน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98848"/>
            <a:ext cx="548640" cy="54864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98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เกิดจริง (Account)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00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บัญชียืนยันยอดสุทธิหลังตรวจหลักฐาน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Variance = งบ − เกิดจริง  (เห็นทันทีว่าเกินงบหรือไม่)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00800" y="1783080"/>
          <a:ext cx="52120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 &amp; การเข้าถึง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ปลอดภัยระดับองค์กร พร้อมเข้าสู่ Portal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2029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SSO เฉพาะองค์กร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4871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ล็อกอินด้วย Google ของบริษัทเท่านั้น — คนนอกเข้าไม่ได้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63056" y="17373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37376" y="2240280"/>
            <a:ext cx="502920" cy="502920"/>
          </a:xfrm>
          <a:prstGeom prst="ellipse">
            <a:avLst/>
          </a:prstGeom>
          <a:solidFill>
            <a:srgbClr val="6D5A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23176" y="20299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Row-Level Security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23176" y="24871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ฐานข้อมูลบังคับสิทธิ์ทุกแถว ต้องล็อกอินจึงเห็นข้อมูล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3950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RBAC (แผนถัดไป)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4074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คุมสิทธิ์รายแผนก เช่น การเงินเห็นเฉพาะทีมการเงิน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63056" y="36576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4160520"/>
            <a:ext cx="502920" cy="50292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23176" y="39502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พร้อมผูกกับ Portal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23176" y="440740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Google เดียวกัน → เข้าใช้งานต่อเนื่องไม่ต้องล็อกอินซ้ำ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 ณ ปัจจุบัน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ใช้งานได้จริงแล้วบน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65376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Command Center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63056" y="169164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1865376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64224" y="1865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94576" y="169164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Release Management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734056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56032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Collaboration + Comments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63056" y="256032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2734056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64224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94576" y="256032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Digital Assets (DAM)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602736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4290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 (Budget/Actual/Verified)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63056" y="342900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64224" y="3602736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64224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94576" y="34290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Internal / Ad-Hoc Work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471416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297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Team &amp; Templates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63056" y="4297680"/>
            <a:ext cx="5394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4224" y="4471416"/>
            <a:ext cx="365760" cy="36576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64224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94576" y="4297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SSO + RLS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ครบทั้ง 8 โมดูลหลัก — รันบนระบบจริง ปลอดภัย และต่อยอดได้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ก้าวต่อไป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 &amp; การเข้าสู่ Portal องค์กร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ระยะสั้น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RBAC คุมสิทธิ์รายแผนก · หน้าจัดการสังกัด/ศิลปิน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88536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161A3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62856" y="219456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F2B70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62856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ระยะกลาง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926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ผูกเข้า Portal องค์กรผ่าน Google SSO (เมนูเดียว ล็อกอินครั้งเดียว)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9202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5F7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01600" dist="38100" dir="5400000">
              <a:srgbClr val="9AA3C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219456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FA9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2194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ระยะยาว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9260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รายงาน/วิเคราะห์ต้นทุน–รายได้ · ปรับโครงสร้างเป็นโมดูลแยกชัด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61A3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เป้าหมาย: เป็นระบบกลางงานปล่อยเพลงของทั้งองค์กร เข้าถึงจาก Portal ได้ทันที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3931920"/>
            <a:ext cx="4937760" cy="4937760"/>
          </a:xfrm>
          <a:prstGeom prst="ellipse">
            <a:avLst/>
          </a:prstGeom>
          <a:solidFill>
            <a:srgbClr val="2831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พร้อมใช้งานจริงแล้ว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8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 Operations System — ระบบภายในของบริษัท ครึ่งเก้า สำหรับบริหารงานปล่อยเพลงทั้งกระบวนการ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3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จัดทำโดยทีมพัฒนาภายใน · บริษัท ครึ่งเก้า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บริษัท ครึ่งเก้า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บริษัท ครึ่งเก้า</dc:creator>
  <cp:lastModifiedBy>บริษัท ครึ่งเก้า</cp:lastModifiedBy>
  <cp:revision>1</cp:revision>
  <dcterms:created xsi:type="dcterms:W3CDTF">2026-10-01T07:52:24Z</dcterms:created>
  <dcterms:modified xsi:type="dcterms:W3CDTF">2026-10-01T07:52:24Z</dcterms:modified>
</cp:coreProperties>
</file>